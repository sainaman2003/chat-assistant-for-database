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Red Hat Text" panose="020B0604020202020204" charset="0"/>
      <p:regular r:id="rId12"/>
    </p:embeddedFont>
    <p:embeddedFont>
      <p:font typeface="Roboto Light" panose="02000000000000000000"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4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708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3047762"/>
            <a:ext cx="7023259" cy="704017"/>
          </a:xfrm>
          <a:prstGeom prst="rect">
            <a:avLst/>
          </a:prstGeom>
          <a:noFill/>
          <a:ln/>
        </p:spPr>
        <p:txBody>
          <a:bodyPr wrap="non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Chat Assistant for Database</a:t>
            </a:r>
            <a:endParaRPr lang="en-US" sz="4400" dirty="0"/>
          </a:p>
        </p:txBody>
      </p:sp>
      <p:sp>
        <p:nvSpPr>
          <p:cNvPr id="4" name="Text 1"/>
          <p:cNvSpPr/>
          <p:nvPr/>
        </p:nvSpPr>
        <p:spPr>
          <a:xfrm>
            <a:off x="837724" y="4110752"/>
            <a:ext cx="7468553" cy="383024"/>
          </a:xfrm>
          <a:prstGeom prst="rect">
            <a:avLst/>
          </a:prstGeom>
          <a:noFill/>
          <a:ln/>
        </p:spPr>
        <p:txBody>
          <a:bodyPr wrap="none" lIns="0" tIns="0" rIns="0" bIns="0" rtlCol="0" anchor="t"/>
          <a:lstStyle/>
          <a:p>
            <a:pPr marL="0" indent="0">
              <a:lnSpc>
                <a:spcPts val="3000"/>
              </a:lnSpc>
              <a:buNone/>
            </a:pPr>
            <a:r>
              <a:rPr lang="en-US" sz="2400" dirty="0">
                <a:solidFill>
                  <a:srgbClr val="3B3535"/>
                </a:solidFill>
                <a:latin typeface="Roboto Light" pitchFamily="34" charset="0"/>
                <a:ea typeface="Roboto Light" pitchFamily="34" charset="-122"/>
                <a:cs typeface="Roboto Light" pitchFamily="34" charset="-120"/>
              </a:rPr>
              <a:t>Mini Project by </a:t>
            </a:r>
            <a:r>
              <a:rPr lang="en-US" sz="2400">
                <a:solidFill>
                  <a:srgbClr val="3B3535"/>
                </a:solidFill>
                <a:latin typeface="Roboto Light" pitchFamily="34" charset="0"/>
                <a:ea typeface="Roboto Light" pitchFamily="34" charset="-122"/>
                <a:cs typeface="Roboto Light" pitchFamily="34" charset="-120"/>
              </a:rPr>
              <a:t>Sai Naman</a:t>
            </a:r>
            <a:endParaRPr lang="en-US" sz="2400" dirty="0"/>
          </a:p>
        </p:txBody>
      </p:sp>
      <p:sp>
        <p:nvSpPr>
          <p:cNvPr id="5" name="Shape 2"/>
          <p:cNvSpPr/>
          <p:nvPr/>
        </p:nvSpPr>
        <p:spPr>
          <a:xfrm>
            <a:off x="837724" y="4780836"/>
            <a:ext cx="382905" cy="382905"/>
          </a:xfrm>
          <a:prstGeom prst="roundRect">
            <a:avLst>
              <a:gd name="adj" fmla="val 23878209"/>
            </a:avLst>
          </a:prstGeom>
          <a:noFill/>
          <a:ln w="762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3176349"/>
            <a:ext cx="5632490" cy="704017"/>
          </a:xfrm>
          <a:prstGeom prst="rect">
            <a:avLst/>
          </a:prstGeom>
          <a:noFill/>
          <a:ln/>
        </p:spPr>
        <p:txBody>
          <a:bodyPr wrap="non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Problem Statement</a:t>
            </a:r>
            <a:endParaRPr lang="en-US" sz="4400" dirty="0"/>
          </a:p>
        </p:txBody>
      </p:sp>
      <p:sp>
        <p:nvSpPr>
          <p:cNvPr id="3" name="Text 1"/>
          <p:cNvSpPr/>
          <p:nvPr/>
        </p:nvSpPr>
        <p:spPr>
          <a:xfrm>
            <a:off x="643095" y="3528357"/>
            <a:ext cx="9491981" cy="3061444"/>
          </a:xfrm>
          <a:prstGeom prst="rect">
            <a:avLst/>
          </a:prstGeom>
          <a:noFill/>
          <a:ln/>
        </p:spPr>
        <p:txBody>
          <a:bodyPr wrap="non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 </a:t>
            </a:r>
            <a:endParaRPr lang="en-US" sz="1850" dirty="0"/>
          </a:p>
        </p:txBody>
      </p:sp>
      <p:sp>
        <p:nvSpPr>
          <p:cNvPr id="6" name="TextBox 5">
            <a:extLst>
              <a:ext uri="{FF2B5EF4-FFF2-40B4-BE49-F238E27FC236}">
                <a16:creationId xmlns:a16="http://schemas.microsoft.com/office/drawing/2014/main" id="{4643E41E-CAB0-ED14-EB5B-2E4766C97413}"/>
              </a:ext>
            </a:extLst>
          </p:cNvPr>
          <p:cNvSpPr txBox="1"/>
          <p:nvPr/>
        </p:nvSpPr>
        <p:spPr>
          <a:xfrm>
            <a:off x="733529" y="4023044"/>
            <a:ext cx="10862269" cy="1594347"/>
          </a:xfrm>
          <a:prstGeom prst="rect">
            <a:avLst/>
          </a:prstGeom>
          <a:noFill/>
        </p:spPr>
        <p:txBody>
          <a:bodyPr wrap="square">
            <a:spAutoFit/>
          </a:bodyPr>
          <a:lstStyle/>
          <a:p>
            <a:pPr>
              <a:lnSpc>
                <a:spcPts val="3000"/>
              </a:lnSpc>
            </a:pPr>
            <a:r>
              <a:rPr lang="en-US" sz="1850" dirty="0">
                <a:solidFill>
                  <a:srgbClr val="3B3535"/>
                </a:solidFill>
                <a:latin typeface="Roboto Light" pitchFamily="34" charset="0"/>
                <a:ea typeface="Roboto Light" pitchFamily="34" charset="-122"/>
                <a:cs typeface="Roboto Light" pitchFamily="34" charset="-120"/>
              </a:rPr>
              <a:t>Build an AI chatbot that will accept natural language queries from users, convert them into SQL statements, execute them on a provided SQLite database, and return clear, formatted responses. The chatbot should enable seamless interaction with the database without requiring users to have SQL knowledge, making data retrieval more accessible and efficient.</a:t>
            </a:r>
            <a:endParaRPr lang="en-IN" sz="1850" dirty="0">
              <a:solidFill>
                <a:srgbClr val="3B3535"/>
              </a:solidFill>
              <a:latin typeface="Roboto Light" pitchFamily="34" charset="0"/>
              <a:ea typeface="Roboto Light" pitchFamily="34" charset="-122"/>
              <a:cs typeface="Roboto Light"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215991"/>
            <a:ext cx="5632490" cy="704017"/>
          </a:xfrm>
          <a:prstGeom prst="rect">
            <a:avLst/>
          </a:prstGeom>
          <a:noFill/>
          <a:ln/>
        </p:spPr>
        <p:txBody>
          <a:bodyPr wrap="non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Tools and Libraries</a:t>
            </a:r>
            <a:endParaRPr lang="en-US" sz="4400" dirty="0"/>
          </a:p>
        </p:txBody>
      </p:sp>
      <p:sp>
        <p:nvSpPr>
          <p:cNvPr id="4" name="Shape 1"/>
          <p:cNvSpPr/>
          <p:nvPr/>
        </p:nvSpPr>
        <p:spPr>
          <a:xfrm>
            <a:off x="837724" y="3548182"/>
            <a:ext cx="538520" cy="538520"/>
          </a:xfrm>
          <a:prstGeom prst="roundRect">
            <a:avLst>
              <a:gd name="adj" fmla="val 6668"/>
            </a:avLst>
          </a:prstGeom>
          <a:solidFill>
            <a:srgbClr val="F3E8E8"/>
          </a:solidFill>
          <a:ln/>
        </p:spPr>
      </p:sp>
      <p:sp>
        <p:nvSpPr>
          <p:cNvPr id="5" name="Text 2"/>
          <p:cNvSpPr/>
          <p:nvPr/>
        </p:nvSpPr>
        <p:spPr>
          <a:xfrm>
            <a:off x="1055013" y="3648432"/>
            <a:ext cx="103823"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1</a:t>
            </a:r>
            <a:endParaRPr lang="en-US" sz="2650" dirty="0"/>
          </a:p>
        </p:txBody>
      </p:sp>
      <p:sp>
        <p:nvSpPr>
          <p:cNvPr id="6" name="Text 3"/>
          <p:cNvSpPr/>
          <p:nvPr/>
        </p:nvSpPr>
        <p:spPr>
          <a:xfrm>
            <a:off x="1615559" y="3548182"/>
            <a:ext cx="2836783"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Python as the primary programming language</a:t>
            </a:r>
            <a:endParaRPr lang="en-US" sz="1850" dirty="0"/>
          </a:p>
        </p:txBody>
      </p:sp>
      <p:sp>
        <p:nvSpPr>
          <p:cNvPr id="7" name="Shape 4"/>
          <p:cNvSpPr/>
          <p:nvPr/>
        </p:nvSpPr>
        <p:spPr>
          <a:xfrm>
            <a:off x="4691658" y="3548182"/>
            <a:ext cx="538520" cy="538520"/>
          </a:xfrm>
          <a:prstGeom prst="roundRect">
            <a:avLst>
              <a:gd name="adj" fmla="val 6668"/>
            </a:avLst>
          </a:prstGeom>
          <a:solidFill>
            <a:srgbClr val="F3E8E8"/>
          </a:solidFill>
          <a:ln/>
        </p:spPr>
      </p:sp>
      <p:sp>
        <p:nvSpPr>
          <p:cNvPr id="8" name="Text 5"/>
          <p:cNvSpPr/>
          <p:nvPr/>
        </p:nvSpPr>
        <p:spPr>
          <a:xfrm>
            <a:off x="4859536" y="3648432"/>
            <a:ext cx="202763"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2</a:t>
            </a:r>
            <a:endParaRPr lang="en-US" sz="2650" dirty="0"/>
          </a:p>
        </p:txBody>
      </p:sp>
      <p:sp>
        <p:nvSpPr>
          <p:cNvPr id="9" name="Text 6"/>
          <p:cNvSpPr/>
          <p:nvPr/>
        </p:nvSpPr>
        <p:spPr>
          <a:xfrm>
            <a:off x="5469493" y="3548182"/>
            <a:ext cx="2836783"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Flask for web application framework</a:t>
            </a:r>
            <a:endParaRPr lang="en-US" sz="1850" dirty="0"/>
          </a:p>
        </p:txBody>
      </p:sp>
      <p:sp>
        <p:nvSpPr>
          <p:cNvPr id="10" name="Shape 7"/>
          <p:cNvSpPr/>
          <p:nvPr/>
        </p:nvSpPr>
        <p:spPr>
          <a:xfrm>
            <a:off x="837724" y="4864418"/>
            <a:ext cx="538520" cy="538520"/>
          </a:xfrm>
          <a:prstGeom prst="roundRect">
            <a:avLst>
              <a:gd name="adj" fmla="val 6668"/>
            </a:avLst>
          </a:prstGeom>
          <a:solidFill>
            <a:srgbClr val="F3E8E8"/>
          </a:solidFill>
          <a:ln/>
        </p:spPr>
      </p:sp>
      <p:sp>
        <p:nvSpPr>
          <p:cNvPr id="11" name="Text 8"/>
          <p:cNvSpPr/>
          <p:nvPr/>
        </p:nvSpPr>
        <p:spPr>
          <a:xfrm>
            <a:off x="1005602" y="4964668"/>
            <a:ext cx="202763"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3</a:t>
            </a:r>
            <a:endParaRPr lang="en-US" sz="2650" dirty="0"/>
          </a:p>
        </p:txBody>
      </p:sp>
      <p:sp>
        <p:nvSpPr>
          <p:cNvPr id="12" name="Text 9"/>
          <p:cNvSpPr/>
          <p:nvPr/>
        </p:nvSpPr>
        <p:spPr>
          <a:xfrm>
            <a:off x="1615559" y="4864418"/>
            <a:ext cx="2836783" cy="1149072"/>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Flask-SQLAlchemy for database interactions with SQLite</a:t>
            </a:r>
            <a:endParaRPr lang="en-US" sz="1850" dirty="0"/>
          </a:p>
        </p:txBody>
      </p:sp>
      <p:sp>
        <p:nvSpPr>
          <p:cNvPr id="13" name="Shape 10"/>
          <p:cNvSpPr/>
          <p:nvPr/>
        </p:nvSpPr>
        <p:spPr>
          <a:xfrm>
            <a:off x="4691658" y="4864418"/>
            <a:ext cx="538520" cy="538520"/>
          </a:xfrm>
          <a:prstGeom prst="roundRect">
            <a:avLst>
              <a:gd name="adj" fmla="val 6668"/>
            </a:avLst>
          </a:prstGeom>
          <a:solidFill>
            <a:srgbClr val="F3E8E8"/>
          </a:solidFill>
          <a:ln/>
        </p:spPr>
      </p:sp>
      <p:sp>
        <p:nvSpPr>
          <p:cNvPr id="14" name="Text 11"/>
          <p:cNvSpPr/>
          <p:nvPr/>
        </p:nvSpPr>
        <p:spPr>
          <a:xfrm>
            <a:off x="4856440" y="4964668"/>
            <a:ext cx="208836"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4</a:t>
            </a:r>
            <a:endParaRPr lang="en-US" sz="2650" dirty="0"/>
          </a:p>
        </p:txBody>
      </p:sp>
      <p:sp>
        <p:nvSpPr>
          <p:cNvPr id="15" name="Text 12"/>
          <p:cNvSpPr/>
          <p:nvPr/>
        </p:nvSpPr>
        <p:spPr>
          <a:xfrm>
            <a:off x="5469493" y="4864418"/>
            <a:ext cx="2836783" cy="1149072"/>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Ollama for advanced language model integration</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3" y="2033764"/>
            <a:ext cx="7468553" cy="1408033"/>
          </a:xfrm>
          <a:prstGeom prst="rect">
            <a:avLst/>
          </a:prstGeom>
          <a:noFill/>
          <a:ln/>
        </p:spPr>
        <p:txBody>
          <a:bodyPr wrap="square" lIns="0" tIns="0" rIns="0" bIns="0" rtlCol="0" anchor="t"/>
          <a:lstStyle/>
          <a:p>
            <a:pPr marL="0" indent="0">
              <a:lnSpc>
                <a:spcPts val="5500"/>
              </a:lnSpc>
              <a:buNone/>
            </a:pPr>
            <a:r>
              <a:rPr lang="en-US" sz="7200" dirty="0">
                <a:solidFill>
                  <a:srgbClr val="1F1E1E"/>
                </a:solidFill>
                <a:latin typeface="Red Hat Text" pitchFamily="34" charset="0"/>
                <a:ea typeface="Red Hat Text" pitchFamily="34" charset="-122"/>
                <a:cs typeface="Red Hat Text" pitchFamily="34" charset="-120"/>
              </a:rPr>
              <a:t>Model</a:t>
            </a:r>
          </a:p>
          <a:p>
            <a:pPr marL="0" indent="0">
              <a:lnSpc>
                <a:spcPts val="5500"/>
              </a:lnSpc>
              <a:buNone/>
            </a:pPr>
            <a:r>
              <a:rPr lang="en-US" sz="2800" dirty="0">
                <a:solidFill>
                  <a:srgbClr val="1F1E1E"/>
                </a:solidFill>
                <a:latin typeface="Red Hat Text" pitchFamily="34" charset="0"/>
                <a:ea typeface="Red Hat Text" pitchFamily="34" charset="-122"/>
                <a:cs typeface="Red Hat Text" pitchFamily="34" charset="-120"/>
              </a:rPr>
              <a:t>Llama 3.2</a:t>
            </a:r>
            <a:endParaRPr lang="en-US" sz="2800" dirty="0"/>
          </a:p>
        </p:txBody>
      </p:sp>
      <p:sp>
        <p:nvSpPr>
          <p:cNvPr id="4" name="Text 1"/>
          <p:cNvSpPr/>
          <p:nvPr/>
        </p:nvSpPr>
        <p:spPr>
          <a:xfrm>
            <a:off x="837723" y="3568393"/>
            <a:ext cx="7468553" cy="1938103"/>
          </a:xfrm>
          <a:prstGeom prst="rect">
            <a:avLst/>
          </a:prstGeom>
          <a:noFill/>
          <a:ln/>
        </p:spPr>
        <p:txBody>
          <a:bodyPr wrap="square" lIns="0" tIns="0" rIns="0" bIns="0" rtlCol="0" anchor="t"/>
          <a:lstStyle/>
          <a:p>
            <a:pPr algn="l"/>
            <a:r>
              <a:rPr lang="en-US" sz="1850" dirty="0">
                <a:solidFill>
                  <a:srgbClr val="3B3535"/>
                </a:solidFill>
                <a:latin typeface="Roboto Light" pitchFamily="34" charset="0"/>
                <a:ea typeface="Roboto Light" pitchFamily="34" charset="-122"/>
                <a:cs typeface="Roboto Light" pitchFamily="34" charset="-120"/>
              </a:rPr>
              <a:t>The Meta Llama 3.2 collection of multilingual large language models is a collection of pre-trained and instruction-tuned generative models in 1B and 3B sizes. The Llama 3.2 instruction-tuned text only models are optimized for multilingual dialogue use cases, including agentic retrieval and summarization tasks. </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361042" y="2307462"/>
            <a:ext cx="5632490" cy="704017"/>
          </a:xfrm>
          <a:prstGeom prst="rect">
            <a:avLst/>
          </a:prstGeom>
          <a:noFill/>
          <a:ln/>
        </p:spPr>
        <p:txBody>
          <a:bodyPr wrap="non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Database Schema</a:t>
            </a:r>
            <a:endParaRPr lang="en-US" sz="4400" dirty="0"/>
          </a:p>
        </p:txBody>
      </p:sp>
      <p:sp>
        <p:nvSpPr>
          <p:cNvPr id="6" name="Text 3"/>
          <p:cNvSpPr/>
          <p:nvPr/>
        </p:nvSpPr>
        <p:spPr>
          <a:xfrm>
            <a:off x="415250" y="3467996"/>
            <a:ext cx="2948464" cy="383024"/>
          </a:xfrm>
          <a:prstGeom prst="rect">
            <a:avLst/>
          </a:prstGeom>
          <a:noFill/>
          <a:ln/>
        </p:spPr>
        <p:txBody>
          <a:bodyPr wrap="none" lIns="0" tIns="0" rIns="0" bIns="0" rtlCol="0" anchor="t"/>
          <a:lstStyle/>
          <a:p>
            <a:pPr marL="0" indent="0">
              <a:lnSpc>
                <a:spcPts val="3000"/>
              </a:lnSpc>
              <a:buNone/>
            </a:pPr>
            <a:r>
              <a:rPr lang="en-US" sz="1850" b="1" dirty="0">
                <a:solidFill>
                  <a:srgbClr val="3B3535"/>
                </a:solidFill>
                <a:latin typeface="Roboto Light" pitchFamily="34" charset="0"/>
                <a:ea typeface="Roboto Light" pitchFamily="34" charset="-122"/>
                <a:cs typeface="Roboto Light" pitchFamily="34" charset="-120"/>
              </a:rPr>
              <a:t>Employees Table</a:t>
            </a:r>
            <a:endParaRPr lang="en-US" sz="1850" dirty="0"/>
          </a:p>
        </p:txBody>
      </p:sp>
      <p:sp>
        <p:nvSpPr>
          <p:cNvPr id="10" name="Shape 7"/>
          <p:cNvSpPr/>
          <p:nvPr/>
        </p:nvSpPr>
        <p:spPr>
          <a:xfrm>
            <a:off x="5716905" y="2067326"/>
            <a:ext cx="3427095" cy="685443"/>
          </a:xfrm>
          <a:prstGeom prst="rect">
            <a:avLst/>
          </a:prstGeom>
          <a:solidFill>
            <a:srgbClr val="FFFFFF">
              <a:alpha val="4000"/>
            </a:srgbClr>
          </a:solidFill>
          <a:ln/>
        </p:spPr>
      </p:sp>
      <p:sp>
        <p:nvSpPr>
          <p:cNvPr id="11" name="Text 8"/>
          <p:cNvSpPr/>
          <p:nvPr/>
        </p:nvSpPr>
        <p:spPr>
          <a:xfrm>
            <a:off x="4858643" y="3472363"/>
            <a:ext cx="2948464" cy="383024"/>
          </a:xfrm>
          <a:prstGeom prst="rect">
            <a:avLst/>
          </a:prstGeom>
          <a:noFill/>
          <a:ln/>
        </p:spPr>
        <p:txBody>
          <a:bodyPr wrap="none" lIns="0" tIns="0" rIns="0" bIns="0" rtlCol="0" anchor="t"/>
          <a:lstStyle/>
          <a:p>
            <a:pPr marL="0" indent="0">
              <a:lnSpc>
                <a:spcPts val="3000"/>
              </a:lnSpc>
              <a:buNone/>
            </a:pPr>
            <a:r>
              <a:rPr lang="en-US" sz="1850" b="1" dirty="0">
                <a:solidFill>
                  <a:srgbClr val="3B3535"/>
                </a:solidFill>
                <a:latin typeface="Roboto Light" pitchFamily="34" charset="0"/>
                <a:ea typeface="Roboto Light" pitchFamily="34" charset="-122"/>
                <a:cs typeface="Roboto Light" pitchFamily="34" charset="-120"/>
              </a:rPr>
              <a:t>Departments Table</a:t>
            </a:r>
            <a:endParaRPr lang="en-US" sz="1850" dirty="0"/>
          </a:p>
        </p:txBody>
      </p:sp>
      <p:graphicFrame>
        <p:nvGraphicFramePr>
          <p:cNvPr id="14" name="Table 13">
            <a:extLst>
              <a:ext uri="{FF2B5EF4-FFF2-40B4-BE49-F238E27FC236}">
                <a16:creationId xmlns:a16="http://schemas.microsoft.com/office/drawing/2014/main" id="{FADFF116-32BF-726D-CF0D-EE2AE95A16D7}"/>
              </a:ext>
            </a:extLst>
          </p:cNvPr>
          <p:cNvGraphicFramePr>
            <a:graphicFrameLocks noGrp="1"/>
          </p:cNvGraphicFramePr>
          <p:nvPr>
            <p:extLst>
              <p:ext uri="{D42A27DB-BD31-4B8C-83A1-F6EECF244321}">
                <p14:modId xmlns:p14="http://schemas.microsoft.com/office/powerpoint/2010/main" val="394494837"/>
              </p:ext>
            </p:extLst>
          </p:nvPr>
        </p:nvGraphicFramePr>
        <p:xfrm>
          <a:off x="415250" y="4114800"/>
          <a:ext cx="4126165" cy="1810513"/>
        </p:xfrm>
        <a:graphic>
          <a:graphicData uri="http://schemas.openxmlformats.org/drawingml/2006/table">
            <a:tbl>
              <a:tblPr firstRow="1" bandRow="1">
                <a:tableStyleId>{F2DE63D5-997A-4646-A377-4702673A728D}</a:tableStyleId>
              </a:tblPr>
              <a:tblGrid>
                <a:gridCol w="825233">
                  <a:extLst>
                    <a:ext uri="{9D8B030D-6E8A-4147-A177-3AD203B41FA5}">
                      <a16:colId xmlns:a16="http://schemas.microsoft.com/office/drawing/2014/main" val="1419391470"/>
                    </a:ext>
                  </a:extLst>
                </a:gridCol>
                <a:gridCol w="825233">
                  <a:extLst>
                    <a:ext uri="{9D8B030D-6E8A-4147-A177-3AD203B41FA5}">
                      <a16:colId xmlns:a16="http://schemas.microsoft.com/office/drawing/2014/main" val="220222297"/>
                    </a:ext>
                  </a:extLst>
                </a:gridCol>
                <a:gridCol w="825233">
                  <a:extLst>
                    <a:ext uri="{9D8B030D-6E8A-4147-A177-3AD203B41FA5}">
                      <a16:colId xmlns:a16="http://schemas.microsoft.com/office/drawing/2014/main" val="2149731059"/>
                    </a:ext>
                  </a:extLst>
                </a:gridCol>
                <a:gridCol w="825233">
                  <a:extLst>
                    <a:ext uri="{9D8B030D-6E8A-4147-A177-3AD203B41FA5}">
                      <a16:colId xmlns:a16="http://schemas.microsoft.com/office/drawing/2014/main" val="801753861"/>
                    </a:ext>
                  </a:extLst>
                </a:gridCol>
                <a:gridCol w="825233">
                  <a:extLst>
                    <a:ext uri="{9D8B030D-6E8A-4147-A177-3AD203B41FA5}">
                      <a16:colId xmlns:a16="http://schemas.microsoft.com/office/drawing/2014/main" val="3690288355"/>
                    </a:ext>
                  </a:extLst>
                </a:gridCol>
              </a:tblGrid>
              <a:tr h="262485">
                <a:tc>
                  <a:txBody>
                    <a:bodyPr/>
                    <a:lstStyle/>
                    <a:p>
                      <a:pPr rtl="0" fontAlgn="t"/>
                      <a:r>
                        <a:rPr lang="en-IN" sz="1100" b="0" u="none" strike="noStrike" dirty="0">
                          <a:solidFill>
                            <a:srgbClr val="000000"/>
                          </a:solidFill>
                          <a:effectLst/>
                        </a:rPr>
                        <a:t>ID</a:t>
                      </a:r>
                      <a:endParaRPr lang="en-IN" dirty="0">
                        <a:effectLst/>
                      </a:endParaRPr>
                    </a:p>
                  </a:txBody>
                  <a:tcPr marL="63500" marR="63500" marT="63500" marB="63500"/>
                </a:tc>
                <a:tc>
                  <a:txBody>
                    <a:bodyPr/>
                    <a:lstStyle/>
                    <a:p>
                      <a:pPr rtl="0" fontAlgn="t"/>
                      <a:r>
                        <a:rPr lang="en-IN" sz="1100" b="0" u="none" strike="noStrike">
                          <a:solidFill>
                            <a:srgbClr val="000000"/>
                          </a:solidFill>
                          <a:effectLst/>
                        </a:rPr>
                        <a:t>Name</a:t>
                      </a:r>
                      <a:endParaRPr lang="en-IN">
                        <a:effectLst/>
                      </a:endParaRPr>
                    </a:p>
                  </a:txBody>
                  <a:tcPr marL="63500" marR="63500" marT="63500" marB="63500"/>
                </a:tc>
                <a:tc>
                  <a:txBody>
                    <a:bodyPr/>
                    <a:lstStyle/>
                    <a:p>
                      <a:pPr rtl="0" fontAlgn="t"/>
                      <a:r>
                        <a:rPr lang="en-IN" sz="1100" b="0" u="none" strike="noStrike">
                          <a:solidFill>
                            <a:srgbClr val="000000"/>
                          </a:solidFill>
                          <a:effectLst/>
                        </a:rPr>
                        <a:t>Department</a:t>
                      </a:r>
                      <a:endParaRPr lang="en-IN">
                        <a:effectLst/>
                      </a:endParaRPr>
                    </a:p>
                  </a:txBody>
                  <a:tcPr marL="63500" marR="63500" marT="63500" marB="63500"/>
                </a:tc>
                <a:tc>
                  <a:txBody>
                    <a:bodyPr/>
                    <a:lstStyle/>
                    <a:p>
                      <a:pPr rtl="0" fontAlgn="t"/>
                      <a:r>
                        <a:rPr lang="en-IN" sz="1100" b="0" u="none" strike="noStrike" dirty="0">
                          <a:solidFill>
                            <a:srgbClr val="000000"/>
                          </a:solidFill>
                          <a:effectLst/>
                        </a:rPr>
                        <a:t>Salary</a:t>
                      </a:r>
                      <a:endParaRPr lang="en-IN" dirty="0">
                        <a:effectLst/>
                      </a:endParaRPr>
                    </a:p>
                  </a:txBody>
                  <a:tcPr marL="63500" marR="63500" marT="63500" marB="63500"/>
                </a:tc>
                <a:tc>
                  <a:txBody>
                    <a:bodyPr/>
                    <a:lstStyle/>
                    <a:p>
                      <a:pPr rtl="0" fontAlgn="t"/>
                      <a:r>
                        <a:rPr lang="en-IN" sz="1100" b="0" u="none" strike="noStrike">
                          <a:solidFill>
                            <a:srgbClr val="000000"/>
                          </a:solidFill>
                          <a:effectLst/>
                        </a:rPr>
                        <a:t>Hire_Date</a:t>
                      </a:r>
                      <a:endParaRPr lang="en-IN">
                        <a:effectLst/>
                      </a:endParaRPr>
                    </a:p>
                  </a:txBody>
                  <a:tcPr marL="63500" marR="63500" marT="63500" marB="63500"/>
                </a:tc>
                <a:extLst>
                  <a:ext uri="{0D108BD9-81ED-4DB2-BD59-A6C34878D82A}">
                    <a16:rowId xmlns:a16="http://schemas.microsoft.com/office/drawing/2014/main" val="2951397667"/>
                  </a:ext>
                </a:extLst>
              </a:tr>
              <a:tr h="505291">
                <a:tc>
                  <a:txBody>
                    <a:bodyPr/>
                    <a:lstStyle/>
                    <a:p>
                      <a:pPr rtl="0" fontAlgn="t"/>
                      <a:r>
                        <a:rPr lang="en-IN" sz="1100" b="0" u="none" strike="noStrike">
                          <a:solidFill>
                            <a:srgbClr val="000000"/>
                          </a:solidFill>
                          <a:effectLst/>
                        </a:rPr>
                        <a:t>1</a:t>
                      </a:r>
                      <a:endParaRPr lang="en-IN">
                        <a:effectLst/>
                      </a:endParaRPr>
                    </a:p>
                  </a:txBody>
                  <a:tcPr marL="63500" marR="63500" marT="63500" marB="63500"/>
                </a:tc>
                <a:tc>
                  <a:txBody>
                    <a:bodyPr/>
                    <a:lstStyle/>
                    <a:p>
                      <a:pPr rtl="0" fontAlgn="t"/>
                      <a:r>
                        <a:rPr lang="en-IN" sz="1100" b="0" u="none" strike="noStrike">
                          <a:solidFill>
                            <a:srgbClr val="000000"/>
                          </a:solidFill>
                          <a:effectLst/>
                        </a:rPr>
                        <a:t>Alice</a:t>
                      </a:r>
                      <a:endParaRPr lang="en-IN">
                        <a:effectLst/>
                      </a:endParaRPr>
                    </a:p>
                  </a:txBody>
                  <a:tcPr marL="63500" marR="63500" marT="63500" marB="63500"/>
                </a:tc>
                <a:tc>
                  <a:txBody>
                    <a:bodyPr/>
                    <a:lstStyle/>
                    <a:p>
                      <a:pPr rtl="0" fontAlgn="t"/>
                      <a:r>
                        <a:rPr lang="en-IN" sz="1100" b="0" u="none" strike="noStrike">
                          <a:solidFill>
                            <a:srgbClr val="000000"/>
                          </a:solidFill>
                          <a:effectLst/>
                        </a:rPr>
                        <a:t>Sales</a:t>
                      </a:r>
                      <a:endParaRPr lang="en-IN">
                        <a:effectLst/>
                      </a:endParaRPr>
                    </a:p>
                  </a:txBody>
                  <a:tcPr marL="63500" marR="63500" marT="63500" marB="63500"/>
                </a:tc>
                <a:tc>
                  <a:txBody>
                    <a:bodyPr/>
                    <a:lstStyle/>
                    <a:p>
                      <a:pPr rtl="0" fontAlgn="t"/>
                      <a:r>
                        <a:rPr lang="en-IN" sz="1100" b="0" u="none" strike="noStrike">
                          <a:solidFill>
                            <a:srgbClr val="000000"/>
                          </a:solidFill>
                          <a:effectLst/>
                        </a:rPr>
                        <a:t>50000</a:t>
                      </a:r>
                      <a:endParaRPr lang="en-IN">
                        <a:effectLst/>
                      </a:endParaRPr>
                    </a:p>
                  </a:txBody>
                  <a:tcPr marL="63500" marR="63500" marT="63500" marB="63500"/>
                </a:tc>
                <a:tc>
                  <a:txBody>
                    <a:bodyPr/>
                    <a:lstStyle/>
                    <a:p>
                      <a:pPr rtl="0" fontAlgn="t"/>
                      <a:r>
                        <a:rPr lang="en-IN" sz="1100" b="0" u="none" strike="noStrike">
                          <a:solidFill>
                            <a:srgbClr val="000000"/>
                          </a:solidFill>
                          <a:effectLst/>
                        </a:rPr>
                        <a:t>2021-01-15</a:t>
                      </a:r>
                      <a:endParaRPr lang="en-IN">
                        <a:effectLst/>
                      </a:endParaRPr>
                    </a:p>
                  </a:txBody>
                  <a:tcPr marL="63500" marR="63500" marT="63500" marB="63500"/>
                </a:tc>
                <a:extLst>
                  <a:ext uri="{0D108BD9-81ED-4DB2-BD59-A6C34878D82A}">
                    <a16:rowId xmlns:a16="http://schemas.microsoft.com/office/drawing/2014/main" val="1432698913"/>
                  </a:ext>
                </a:extLst>
              </a:tr>
              <a:tr h="505291">
                <a:tc>
                  <a:txBody>
                    <a:bodyPr/>
                    <a:lstStyle/>
                    <a:p>
                      <a:pPr rtl="0" fontAlgn="t"/>
                      <a:r>
                        <a:rPr lang="en-IN" sz="1100" b="0" u="none" strike="noStrike">
                          <a:solidFill>
                            <a:srgbClr val="000000"/>
                          </a:solidFill>
                          <a:effectLst/>
                        </a:rPr>
                        <a:t>2</a:t>
                      </a:r>
                      <a:endParaRPr lang="en-IN">
                        <a:effectLst/>
                      </a:endParaRPr>
                    </a:p>
                  </a:txBody>
                  <a:tcPr marL="63500" marR="63500" marT="63500" marB="63500"/>
                </a:tc>
                <a:tc>
                  <a:txBody>
                    <a:bodyPr/>
                    <a:lstStyle/>
                    <a:p>
                      <a:pPr rtl="0" fontAlgn="t"/>
                      <a:r>
                        <a:rPr lang="en-IN" sz="1100" b="0" u="none" strike="noStrike">
                          <a:solidFill>
                            <a:srgbClr val="000000"/>
                          </a:solidFill>
                          <a:effectLst/>
                        </a:rPr>
                        <a:t>Bob</a:t>
                      </a:r>
                      <a:endParaRPr lang="en-IN">
                        <a:effectLst/>
                      </a:endParaRPr>
                    </a:p>
                  </a:txBody>
                  <a:tcPr marL="63500" marR="63500" marT="63500" marB="63500"/>
                </a:tc>
                <a:tc>
                  <a:txBody>
                    <a:bodyPr/>
                    <a:lstStyle/>
                    <a:p>
                      <a:pPr rtl="0" fontAlgn="t"/>
                      <a:r>
                        <a:rPr lang="en-IN" sz="1100" b="0" u="none" strike="noStrike">
                          <a:solidFill>
                            <a:srgbClr val="000000"/>
                          </a:solidFill>
                          <a:effectLst/>
                        </a:rPr>
                        <a:t>Engineering</a:t>
                      </a:r>
                      <a:endParaRPr lang="en-IN">
                        <a:effectLst/>
                      </a:endParaRPr>
                    </a:p>
                  </a:txBody>
                  <a:tcPr marL="63500" marR="63500" marT="63500" marB="63500"/>
                </a:tc>
                <a:tc>
                  <a:txBody>
                    <a:bodyPr/>
                    <a:lstStyle/>
                    <a:p>
                      <a:pPr rtl="0" fontAlgn="t"/>
                      <a:r>
                        <a:rPr lang="en-IN" sz="1100" b="0" u="none" strike="noStrike">
                          <a:solidFill>
                            <a:srgbClr val="000000"/>
                          </a:solidFill>
                          <a:effectLst/>
                        </a:rPr>
                        <a:t>70000</a:t>
                      </a:r>
                      <a:endParaRPr lang="en-IN">
                        <a:effectLst/>
                      </a:endParaRPr>
                    </a:p>
                  </a:txBody>
                  <a:tcPr marL="63500" marR="63500" marT="63500" marB="63500"/>
                </a:tc>
                <a:tc>
                  <a:txBody>
                    <a:bodyPr/>
                    <a:lstStyle/>
                    <a:p>
                      <a:pPr rtl="0" fontAlgn="t"/>
                      <a:r>
                        <a:rPr lang="en-IN" sz="1100" b="0" u="none" strike="noStrike">
                          <a:solidFill>
                            <a:srgbClr val="000000"/>
                          </a:solidFill>
                          <a:effectLst/>
                        </a:rPr>
                        <a:t>2020-06-10</a:t>
                      </a:r>
                      <a:endParaRPr lang="en-IN">
                        <a:effectLst/>
                      </a:endParaRPr>
                    </a:p>
                  </a:txBody>
                  <a:tcPr marL="63500" marR="63500" marT="63500" marB="63500"/>
                </a:tc>
                <a:extLst>
                  <a:ext uri="{0D108BD9-81ED-4DB2-BD59-A6C34878D82A}">
                    <a16:rowId xmlns:a16="http://schemas.microsoft.com/office/drawing/2014/main" val="2085195034"/>
                  </a:ext>
                </a:extLst>
              </a:tr>
              <a:tr h="505291">
                <a:tc>
                  <a:txBody>
                    <a:bodyPr/>
                    <a:lstStyle/>
                    <a:p>
                      <a:pPr rtl="0" fontAlgn="t"/>
                      <a:r>
                        <a:rPr lang="en-IN" sz="1100" b="0" u="none" strike="noStrike">
                          <a:solidFill>
                            <a:srgbClr val="000000"/>
                          </a:solidFill>
                          <a:effectLst/>
                        </a:rPr>
                        <a:t>3</a:t>
                      </a:r>
                      <a:endParaRPr lang="en-IN">
                        <a:effectLst/>
                      </a:endParaRPr>
                    </a:p>
                  </a:txBody>
                  <a:tcPr marL="63500" marR="63500" marT="63500" marB="63500"/>
                </a:tc>
                <a:tc>
                  <a:txBody>
                    <a:bodyPr/>
                    <a:lstStyle/>
                    <a:p>
                      <a:pPr rtl="0" fontAlgn="t"/>
                      <a:r>
                        <a:rPr lang="en-IN" sz="1100" b="0" u="none" strike="noStrike">
                          <a:solidFill>
                            <a:srgbClr val="000000"/>
                          </a:solidFill>
                          <a:effectLst/>
                        </a:rPr>
                        <a:t>Charlie</a:t>
                      </a:r>
                      <a:endParaRPr lang="en-IN">
                        <a:effectLst/>
                      </a:endParaRPr>
                    </a:p>
                  </a:txBody>
                  <a:tcPr marL="63500" marR="63500" marT="63500" marB="63500"/>
                </a:tc>
                <a:tc>
                  <a:txBody>
                    <a:bodyPr/>
                    <a:lstStyle/>
                    <a:p>
                      <a:pPr rtl="0" fontAlgn="t"/>
                      <a:r>
                        <a:rPr lang="en-IN" sz="1100" b="0" u="none" strike="noStrike">
                          <a:solidFill>
                            <a:srgbClr val="000000"/>
                          </a:solidFill>
                          <a:effectLst/>
                        </a:rPr>
                        <a:t>Marketing</a:t>
                      </a:r>
                      <a:endParaRPr lang="en-IN">
                        <a:effectLst/>
                      </a:endParaRPr>
                    </a:p>
                  </a:txBody>
                  <a:tcPr marL="63500" marR="63500" marT="63500" marB="63500"/>
                </a:tc>
                <a:tc>
                  <a:txBody>
                    <a:bodyPr/>
                    <a:lstStyle/>
                    <a:p>
                      <a:pPr rtl="0" fontAlgn="t"/>
                      <a:r>
                        <a:rPr lang="en-IN" sz="1100" b="0" u="none" strike="noStrike">
                          <a:solidFill>
                            <a:srgbClr val="000000"/>
                          </a:solidFill>
                          <a:effectLst/>
                        </a:rPr>
                        <a:t>60000</a:t>
                      </a:r>
                      <a:endParaRPr lang="en-IN">
                        <a:effectLst/>
                      </a:endParaRPr>
                    </a:p>
                  </a:txBody>
                  <a:tcPr marL="63500" marR="63500" marT="63500" marB="63500"/>
                </a:tc>
                <a:tc>
                  <a:txBody>
                    <a:bodyPr/>
                    <a:lstStyle/>
                    <a:p>
                      <a:pPr rtl="0" fontAlgn="t"/>
                      <a:r>
                        <a:rPr lang="en-IN" sz="1100" b="0" u="none" strike="noStrike" dirty="0">
                          <a:solidFill>
                            <a:srgbClr val="000000"/>
                          </a:solidFill>
                          <a:effectLst/>
                        </a:rPr>
                        <a:t>2022-03-20</a:t>
                      </a:r>
                      <a:endParaRPr lang="en-IN" dirty="0">
                        <a:effectLst/>
                      </a:endParaRPr>
                    </a:p>
                  </a:txBody>
                  <a:tcPr marL="63500" marR="63500" marT="63500" marB="63500"/>
                </a:tc>
                <a:extLst>
                  <a:ext uri="{0D108BD9-81ED-4DB2-BD59-A6C34878D82A}">
                    <a16:rowId xmlns:a16="http://schemas.microsoft.com/office/drawing/2014/main" val="609113106"/>
                  </a:ext>
                </a:extLst>
              </a:tr>
            </a:tbl>
          </a:graphicData>
        </a:graphic>
      </p:graphicFrame>
      <p:graphicFrame>
        <p:nvGraphicFramePr>
          <p:cNvPr id="15" name="Table 14">
            <a:extLst>
              <a:ext uri="{FF2B5EF4-FFF2-40B4-BE49-F238E27FC236}">
                <a16:creationId xmlns:a16="http://schemas.microsoft.com/office/drawing/2014/main" id="{73FABA25-BBE6-E1B2-04C4-799FAC8B9843}"/>
              </a:ext>
            </a:extLst>
          </p:cNvPr>
          <p:cNvGraphicFramePr>
            <a:graphicFrameLocks noGrp="1"/>
          </p:cNvGraphicFramePr>
          <p:nvPr>
            <p:extLst>
              <p:ext uri="{D42A27DB-BD31-4B8C-83A1-F6EECF244321}">
                <p14:modId xmlns:p14="http://schemas.microsoft.com/office/powerpoint/2010/main" val="1262359244"/>
              </p:ext>
            </p:extLst>
          </p:nvPr>
        </p:nvGraphicFramePr>
        <p:xfrm>
          <a:off x="4824652" y="4154378"/>
          <a:ext cx="3650901" cy="1731356"/>
        </p:xfrm>
        <a:graphic>
          <a:graphicData uri="http://schemas.openxmlformats.org/drawingml/2006/table">
            <a:tbl>
              <a:tblPr firstRow="1" bandRow="1">
                <a:tableStyleId>{F2DE63D5-997A-4646-A377-4702673A728D}</a:tableStyleId>
              </a:tblPr>
              <a:tblGrid>
                <a:gridCol w="1216967">
                  <a:extLst>
                    <a:ext uri="{9D8B030D-6E8A-4147-A177-3AD203B41FA5}">
                      <a16:colId xmlns:a16="http://schemas.microsoft.com/office/drawing/2014/main" val="874972940"/>
                    </a:ext>
                  </a:extLst>
                </a:gridCol>
                <a:gridCol w="1216967">
                  <a:extLst>
                    <a:ext uri="{9D8B030D-6E8A-4147-A177-3AD203B41FA5}">
                      <a16:colId xmlns:a16="http://schemas.microsoft.com/office/drawing/2014/main" val="1706797609"/>
                    </a:ext>
                  </a:extLst>
                </a:gridCol>
                <a:gridCol w="1216967">
                  <a:extLst>
                    <a:ext uri="{9D8B030D-6E8A-4147-A177-3AD203B41FA5}">
                      <a16:colId xmlns:a16="http://schemas.microsoft.com/office/drawing/2014/main" val="1769455530"/>
                    </a:ext>
                  </a:extLst>
                </a:gridCol>
              </a:tblGrid>
              <a:tr h="432839">
                <a:tc>
                  <a:txBody>
                    <a:bodyPr/>
                    <a:lstStyle/>
                    <a:p>
                      <a:pPr rtl="0" fontAlgn="t"/>
                      <a:r>
                        <a:rPr lang="en-IN" sz="1100" b="0" u="none" strike="noStrike" dirty="0">
                          <a:solidFill>
                            <a:srgbClr val="000000"/>
                          </a:solidFill>
                          <a:effectLst/>
                        </a:rPr>
                        <a:t>ID</a:t>
                      </a:r>
                      <a:endParaRPr lang="en-IN" dirty="0">
                        <a:effectLst/>
                      </a:endParaRPr>
                    </a:p>
                  </a:txBody>
                  <a:tcPr marL="63500" marR="63500" marT="63500" marB="63500"/>
                </a:tc>
                <a:tc>
                  <a:txBody>
                    <a:bodyPr/>
                    <a:lstStyle/>
                    <a:p>
                      <a:pPr rtl="0" fontAlgn="t"/>
                      <a:r>
                        <a:rPr lang="en-IN" sz="1100" b="0" u="none" strike="noStrike">
                          <a:solidFill>
                            <a:srgbClr val="000000"/>
                          </a:solidFill>
                          <a:effectLst/>
                        </a:rPr>
                        <a:t>Name</a:t>
                      </a:r>
                      <a:endParaRPr lang="en-IN">
                        <a:effectLst/>
                      </a:endParaRPr>
                    </a:p>
                  </a:txBody>
                  <a:tcPr marL="63500" marR="63500" marT="63500" marB="63500"/>
                </a:tc>
                <a:tc>
                  <a:txBody>
                    <a:bodyPr/>
                    <a:lstStyle/>
                    <a:p>
                      <a:pPr rtl="0" fontAlgn="t"/>
                      <a:r>
                        <a:rPr lang="en-IN" sz="1100" b="0" u="none" strike="noStrike">
                          <a:solidFill>
                            <a:srgbClr val="000000"/>
                          </a:solidFill>
                          <a:effectLst/>
                        </a:rPr>
                        <a:t>Manager</a:t>
                      </a:r>
                      <a:endParaRPr lang="en-IN">
                        <a:effectLst/>
                      </a:endParaRPr>
                    </a:p>
                  </a:txBody>
                  <a:tcPr marL="63500" marR="63500" marT="63500" marB="63500"/>
                </a:tc>
                <a:extLst>
                  <a:ext uri="{0D108BD9-81ED-4DB2-BD59-A6C34878D82A}">
                    <a16:rowId xmlns:a16="http://schemas.microsoft.com/office/drawing/2014/main" val="2290841461"/>
                  </a:ext>
                </a:extLst>
              </a:tr>
              <a:tr h="432839">
                <a:tc>
                  <a:txBody>
                    <a:bodyPr/>
                    <a:lstStyle/>
                    <a:p>
                      <a:pPr rtl="0" fontAlgn="t"/>
                      <a:r>
                        <a:rPr lang="en-IN" sz="1100" b="0" u="none" strike="noStrike">
                          <a:solidFill>
                            <a:srgbClr val="000000"/>
                          </a:solidFill>
                          <a:effectLst/>
                        </a:rPr>
                        <a:t>1</a:t>
                      </a:r>
                      <a:endParaRPr lang="en-IN">
                        <a:effectLst/>
                      </a:endParaRPr>
                    </a:p>
                  </a:txBody>
                  <a:tcPr marL="63500" marR="63500" marT="63500" marB="63500"/>
                </a:tc>
                <a:tc>
                  <a:txBody>
                    <a:bodyPr/>
                    <a:lstStyle/>
                    <a:p>
                      <a:pPr rtl="0" fontAlgn="t"/>
                      <a:r>
                        <a:rPr lang="en-IN" sz="1100" b="0" u="none" strike="noStrike">
                          <a:solidFill>
                            <a:srgbClr val="000000"/>
                          </a:solidFill>
                          <a:effectLst/>
                        </a:rPr>
                        <a:t>Sales</a:t>
                      </a:r>
                      <a:endParaRPr lang="en-IN">
                        <a:effectLst/>
                      </a:endParaRPr>
                    </a:p>
                  </a:txBody>
                  <a:tcPr marL="63500" marR="63500" marT="63500" marB="63500"/>
                </a:tc>
                <a:tc>
                  <a:txBody>
                    <a:bodyPr/>
                    <a:lstStyle/>
                    <a:p>
                      <a:pPr rtl="0" fontAlgn="t"/>
                      <a:r>
                        <a:rPr lang="en-IN" sz="1100" b="0" u="none" strike="noStrike">
                          <a:solidFill>
                            <a:srgbClr val="000000"/>
                          </a:solidFill>
                          <a:effectLst/>
                        </a:rPr>
                        <a:t>Alice</a:t>
                      </a:r>
                      <a:endParaRPr lang="en-IN">
                        <a:effectLst/>
                      </a:endParaRPr>
                    </a:p>
                  </a:txBody>
                  <a:tcPr marL="63500" marR="63500" marT="63500" marB="63500"/>
                </a:tc>
                <a:extLst>
                  <a:ext uri="{0D108BD9-81ED-4DB2-BD59-A6C34878D82A}">
                    <a16:rowId xmlns:a16="http://schemas.microsoft.com/office/drawing/2014/main" val="1219760944"/>
                  </a:ext>
                </a:extLst>
              </a:tr>
              <a:tr h="432839">
                <a:tc>
                  <a:txBody>
                    <a:bodyPr/>
                    <a:lstStyle/>
                    <a:p>
                      <a:pPr rtl="0" fontAlgn="t"/>
                      <a:r>
                        <a:rPr lang="en-IN" sz="1100" b="0" u="none" strike="noStrike">
                          <a:solidFill>
                            <a:srgbClr val="000000"/>
                          </a:solidFill>
                          <a:effectLst/>
                        </a:rPr>
                        <a:t>2</a:t>
                      </a:r>
                      <a:endParaRPr lang="en-IN">
                        <a:effectLst/>
                      </a:endParaRPr>
                    </a:p>
                  </a:txBody>
                  <a:tcPr marL="63500" marR="63500" marT="63500" marB="63500"/>
                </a:tc>
                <a:tc>
                  <a:txBody>
                    <a:bodyPr/>
                    <a:lstStyle/>
                    <a:p>
                      <a:pPr rtl="0" fontAlgn="t"/>
                      <a:r>
                        <a:rPr lang="en-IN" sz="1100" b="0" u="none" strike="noStrike">
                          <a:solidFill>
                            <a:srgbClr val="000000"/>
                          </a:solidFill>
                          <a:effectLst/>
                        </a:rPr>
                        <a:t>Engineering</a:t>
                      </a:r>
                      <a:endParaRPr lang="en-IN">
                        <a:effectLst/>
                      </a:endParaRPr>
                    </a:p>
                  </a:txBody>
                  <a:tcPr marL="63500" marR="63500" marT="63500" marB="63500"/>
                </a:tc>
                <a:tc>
                  <a:txBody>
                    <a:bodyPr/>
                    <a:lstStyle/>
                    <a:p>
                      <a:pPr rtl="0" fontAlgn="t"/>
                      <a:r>
                        <a:rPr lang="en-IN" sz="1100" b="0" u="none" strike="noStrike">
                          <a:solidFill>
                            <a:srgbClr val="000000"/>
                          </a:solidFill>
                          <a:effectLst/>
                        </a:rPr>
                        <a:t>Bob</a:t>
                      </a:r>
                      <a:endParaRPr lang="en-IN">
                        <a:effectLst/>
                      </a:endParaRPr>
                    </a:p>
                  </a:txBody>
                  <a:tcPr marL="63500" marR="63500" marT="63500" marB="63500"/>
                </a:tc>
                <a:extLst>
                  <a:ext uri="{0D108BD9-81ED-4DB2-BD59-A6C34878D82A}">
                    <a16:rowId xmlns:a16="http://schemas.microsoft.com/office/drawing/2014/main" val="236386493"/>
                  </a:ext>
                </a:extLst>
              </a:tr>
              <a:tr h="432839">
                <a:tc>
                  <a:txBody>
                    <a:bodyPr/>
                    <a:lstStyle/>
                    <a:p>
                      <a:pPr rtl="0" fontAlgn="t"/>
                      <a:r>
                        <a:rPr lang="en-IN" sz="1100" b="0" u="none" strike="noStrike">
                          <a:solidFill>
                            <a:srgbClr val="000000"/>
                          </a:solidFill>
                          <a:effectLst/>
                        </a:rPr>
                        <a:t>3</a:t>
                      </a:r>
                      <a:endParaRPr lang="en-IN">
                        <a:effectLst/>
                      </a:endParaRPr>
                    </a:p>
                  </a:txBody>
                  <a:tcPr marL="63500" marR="63500" marT="63500" marB="63500"/>
                </a:tc>
                <a:tc>
                  <a:txBody>
                    <a:bodyPr/>
                    <a:lstStyle/>
                    <a:p>
                      <a:pPr rtl="0" fontAlgn="t"/>
                      <a:r>
                        <a:rPr lang="en-IN" sz="1100" b="0" u="none" strike="noStrike">
                          <a:solidFill>
                            <a:srgbClr val="000000"/>
                          </a:solidFill>
                          <a:effectLst/>
                        </a:rPr>
                        <a:t>Marketing</a:t>
                      </a:r>
                      <a:endParaRPr lang="en-IN">
                        <a:effectLst/>
                      </a:endParaRPr>
                    </a:p>
                  </a:txBody>
                  <a:tcPr marL="63500" marR="63500" marT="63500" marB="63500"/>
                </a:tc>
                <a:tc>
                  <a:txBody>
                    <a:bodyPr/>
                    <a:lstStyle/>
                    <a:p>
                      <a:pPr rtl="0" fontAlgn="t"/>
                      <a:r>
                        <a:rPr lang="en-IN" sz="1100" b="0" u="none" strike="noStrike" dirty="0">
                          <a:solidFill>
                            <a:srgbClr val="000000"/>
                          </a:solidFill>
                          <a:effectLst/>
                        </a:rPr>
                        <a:t>Charlie</a:t>
                      </a:r>
                      <a:endParaRPr lang="en-IN" dirty="0">
                        <a:effectLst/>
                      </a:endParaRPr>
                    </a:p>
                  </a:txBody>
                  <a:tcPr marL="63500" marR="63500" marT="63500" marB="63500"/>
                </a:tc>
                <a:extLst>
                  <a:ext uri="{0D108BD9-81ED-4DB2-BD59-A6C34878D82A}">
                    <a16:rowId xmlns:a16="http://schemas.microsoft.com/office/drawing/2014/main" val="324107749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92160"/>
          </a:xfrm>
          <a:prstGeom prst="rect">
            <a:avLst/>
          </a:prstGeom>
        </p:spPr>
      </p:pic>
      <p:sp>
        <p:nvSpPr>
          <p:cNvPr id="3" name="Text 0"/>
          <p:cNvSpPr/>
          <p:nvPr/>
        </p:nvSpPr>
        <p:spPr>
          <a:xfrm>
            <a:off x="837724" y="3918466"/>
            <a:ext cx="5632490" cy="704017"/>
          </a:xfrm>
          <a:prstGeom prst="rect">
            <a:avLst/>
          </a:prstGeom>
          <a:noFill/>
          <a:ln/>
        </p:spPr>
        <p:txBody>
          <a:bodyPr wrap="non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Chatbot Functionality</a:t>
            </a:r>
            <a:endParaRPr lang="en-US" sz="4400" dirty="0"/>
          </a:p>
        </p:txBody>
      </p:sp>
      <p:pic>
        <p:nvPicPr>
          <p:cNvPr id="4" name="Image 1" descr="preencoded.png"/>
          <p:cNvPicPr>
            <a:picLocks noChangeAspect="1"/>
          </p:cNvPicPr>
          <p:nvPr/>
        </p:nvPicPr>
        <p:blipFill>
          <a:blip r:embed="rId4"/>
          <a:stretch>
            <a:fillRect/>
          </a:stretch>
        </p:blipFill>
        <p:spPr>
          <a:xfrm>
            <a:off x="837724" y="4981456"/>
            <a:ext cx="3238738" cy="957501"/>
          </a:xfrm>
          <a:prstGeom prst="rect">
            <a:avLst/>
          </a:prstGeom>
        </p:spPr>
      </p:pic>
      <p:sp>
        <p:nvSpPr>
          <p:cNvPr id="5" name="Text 1"/>
          <p:cNvSpPr/>
          <p:nvPr/>
        </p:nvSpPr>
        <p:spPr>
          <a:xfrm>
            <a:off x="1077039" y="6297930"/>
            <a:ext cx="2760107" cy="766048"/>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Understanding user's natural language queries</a:t>
            </a:r>
            <a:endParaRPr lang="en-US" sz="1850" dirty="0"/>
          </a:p>
        </p:txBody>
      </p:sp>
      <p:pic>
        <p:nvPicPr>
          <p:cNvPr id="6" name="Image 2" descr="preencoded.png"/>
          <p:cNvPicPr>
            <a:picLocks noChangeAspect="1"/>
          </p:cNvPicPr>
          <p:nvPr/>
        </p:nvPicPr>
        <p:blipFill>
          <a:blip r:embed="rId5"/>
          <a:stretch>
            <a:fillRect/>
          </a:stretch>
        </p:blipFill>
        <p:spPr>
          <a:xfrm>
            <a:off x="4076462" y="4981456"/>
            <a:ext cx="3238738" cy="957501"/>
          </a:xfrm>
          <a:prstGeom prst="rect">
            <a:avLst/>
          </a:prstGeom>
        </p:spPr>
      </p:pic>
      <p:sp>
        <p:nvSpPr>
          <p:cNvPr id="7" name="Text 2"/>
          <p:cNvSpPr/>
          <p:nvPr/>
        </p:nvSpPr>
        <p:spPr>
          <a:xfrm>
            <a:off x="4315778" y="6297930"/>
            <a:ext cx="2760107" cy="383024"/>
          </a:xfrm>
          <a:prstGeom prst="rect">
            <a:avLst/>
          </a:prstGeom>
          <a:noFill/>
          <a:ln/>
        </p:spPr>
        <p:txBody>
          <a:bodyPr wrap="non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Translating queries to SQL</a:t>
            </a:r>
            <a:endParaRPr lang="en-US" sz="1850" dirty="0"/>
          </a:p>
        </p:txBody>
      </p:sp>
      <p:pic>
        <p:nvPicPr>
          <p:cNvPr id="8" name="Image 3" descr="preencoded.png"/>
          <p:cNvPicPr>
            <a:picLocks noChangeAspect="1"/>
          </p:cNvPicPr>
          <p:nvPr/>
        </p:nvPicPr>
        <p:blipFill>
          <a:blip r:embed="rId6"/>
          <a:stretch>
            <a:fillRect/>
          </a:stretch>
        </p:blipFill>
        <p:spPr>
          <a:xfrm>
            <a:off x="7315200" y="4981456"/>
            <a:ext cx="3238738" cy="957501"/>
          </a:xfrm>
          <a:prstGeom prst="rect">
            <a:avLst/>
          </a:prstGeom>
        </p:spPr>
      </p:pic>
      <p:sp>
        <p:nvSpPr>
          <p:cNvPr id="9" name="Text 3"/>
          <p:cNvSpPr/>
          <p:nvPr/>
        </p:nvSpPr>
        <p:spPr>
          <a:xfrm>
            <a:off x="7554516" y="6297930"/>
            <a:ext cx="2760107" cy="766048"/>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Executing SQL queries against the database</a:t>
            </a:r>
            <a:endParaRPr lang="en-US" sz="1850" dirty="0"/>
          </a:p>
        </p:txBody>
      </p:sp>
      <p:pic>
        <p:nvPicPr>
          <p:cNvPr id="10" name="Image 4" descr="preencoded.png"/>
          <p:cNvPicPr>
            <a:picLocks noChangeAspect="1"/>
          </p:cNvPicPr>
          <p:nvPr/>
        </p:nvPicPr>
        <p:blipFill>
          <a:blip r:embed="rId7"/>
          <a:stretch>
            <a:fillRect/>
          </a:stretch>
        </p:blipFill>
        <p:spPr>
          <a:xfrm>
            <a:off x="10553938" y="4981456"/>
            <a:ext cx="3238738" cy="957501"/>
          </a:xfrm>
          <a:prstGeom prst="rect">
            <a:avLst/>
          </a:prstGeom>
        </p:spPr>
      </p:pic>
      <p:sp>
        <p:nvSpPr>
          <p:cNvPr id="11" name="Text 4"/>
          <p:cNvSpPr/>
          <p:nvPr/>
        </p:nvSpPr>
        <p:spPr>
          <a:xfrm>
            <a:off x="10793254" y="6297930"/>
            <a:ext cx="2760107" cy="766048"/>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Presenting results in a user-friendly format</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92160"/>
          </a:xfrm>
          <a:prstGeom prst="rect">
            <a:avLst/>
          </a:prstGeom>
        </p:spPr>
      </p:pic>
      <p:sp>
        <p:nvSpPr>
          <p:cNvPr id="3" name="Text 0"/>
          <p:cNvSpPr/>
          <p:nvPr/>
        </p:nvSpPr>
        <p:spPr>
          <a:xfrm>
            <a:off x="315210" y="3275743"/>
            <a:ext cx="7725013" cy="704017"/>
          </a:xfrm>
          <a:prstGeom prst="rect">
            <a:avLst/>
          </a:prstGeom>
          <a:noFill/>
          <a:ln/>
        </p:spPr>
        <p:txBody>
          <a:bodyPr wrap="non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User Interface and Interactions</a:t>
            </a:r>
            <a:endParaRPr lang="en-US" sz="4400" dirty="0"/>
          </a:p>
        </p:txBody>
      </p:sp>
      <p:sp>
        <p:nvSpPr>
          <p:cNvPr id="9" name="Text 3"/>
          <p:cNvSpPr/>
          <p:nvPr/>
        </p:nvSpPr>
        <p:spPr>
          <a:xfrm>
            <a:off x="315209" y="4190438"/>
            <a:ext cx="4079081" cy="383024"/>
          </a:xfrm>
          <a:prstGeom prst="rect">
            <a:avLst/>
          </a:prstGeom>
          <a:noFill/>
          <a:ln/>
        </p:spPr>
        <p:txBody>
          <a:bodyPr wrap="none" lIns="0" tIns="0" rIns="0" bIns="0" rtlCol="0" anchor="t"/>
          <a:lstStyle/>
          <a:p>
            <a:pPr marL="0" indent="0" algn="l">
              <a:lnSpc>
                <a:spcPts val="3000"/>
              </a:lnSpc>
              <a:buNone/>
            </a:pPr>
            <a:r>
              <a:rPr lang="en-US" sz="1850"/>
              <a:t>http://127.0.0.1:5000</a:t>
            </a:r>
            <a:endParaRPr lang="en-US" sz="1850" dirty="0"/>
          </a:p>
        </p:txBody>
      </p:sp>
      <p:sp>
        <p:nvSpPr>
          <p:cNvPr id="4" name="Text 3">
            <a:extLst>
              <a:ext uri="{FF2B5EF4-FFF2-40B4-BE49-F238E27FC236}">
                <a16:creationId xmlns:a16="http://schemas.microsoft.com/office/drawing/2014/main" id="{1577F09F-9998-7EFE-E2B6-A0300348C885}"/>
              </a:ext>
            </a:extLst>
          </p:cNvPr>
          <p:cNvSpPr/>
          <p:nvPr/>
        </p:nvSpPr>
        <p:spPr>
          <a:xfrm>
            <a:off x="315209" y="4804469"/>
            <a:ext cx="8688114" cy="3425131"/>
          </a:xfrm>
          <a:prstGeom prst="rect">
            <a:avLst/>
          </a:prstGeom>
          <a:noFill/>
          <a:ln/>
        </p:spPr>
        <p:txBody>
          <a:bodyPr wrap="none" lIns="0" tIns="0" rIns="0" bIns="0" rtlCol="0" anchor="t"/>
          <a:lstStyle/>
          <a:p>
            <a:pPr marL="0" indent="0" algn="l">
              <a:lnSpc>
                <a:spcPts val="3000"/>
              </a:lnSpc>
              <a:buNone/>
            </a:pPr>
            <a:r>
              <a:rPr lang="en-US" sz="2400" dirty="0">
                <a:solidFill>
                  <a:srgbClr val="3B3535"/>
                </a:solidFill>
                <a:latin typeface="Roboto Light" pitchFamily="34" charset="0"/>
                <a:ea typeface="Roboto Light" pitchFamily="34" charset="-122"/>
                <a:cs typeface="Roboto Light" pitchFamily="34" charset="-120"/>
              </a:rPr>
              <a:t>Sample </a:t>
            </a:r>
            <a:r>
              <a:rPr lang="en-IN" sz="2400" dirty="0">
                <a:solidFill>
                  <a:srgbClr val="3B3535"/>
                </a:solidFill>
                <a:latin typeface="Roboto Light" pitchFamily="34" charset="0"/>
                <a:ea typeface="Roboto Light" pitchFamily="34" charset="-122"/>
                <a:cs typeface="Roboto Light" pitchFamily="34" charset="-120"/>
              </a:rPr>
              <a:t>Queries</a:t>
            </a:r>
            <a:endParaRPr lang="en-US" sz="2400" dirty="0">
              <a:solidFill>
                <a:srgbClr val="3B3535"/>
              </a:solidFill>
              <a:latin typeface="Roboto Light" pitchFamily="34" charset="0"/>
              <a:ea typeface="Roboto Light" pitchFamily="34" charset="-122"/>
              <a:cs typeface="Roboto Light" pitchFamily="34" charset="-120"/>
            </a:endParaRPr>
          </a:p>
          <a:p>
            <a:pPr marL="285750" indent="-285750" fontAlgn="base">
              <a:lnSpc>
                <a:spcPts val="3000"/>
              </a:lnSpc>
              <a:buFont typeface="Arial" panose="020B0604020202020204" pitchFamily="34" charset="0"/>
              <a:buChar char="•"/>
            </a:pPr>
            <a:r>
              <a:rPr lang="en-US" sz="1600" dirty="0">
                <a:solidFill>
                  <a:srgbClr val="3B3535"/>
                </a:solidFill>
                <a:latin typeface="Roboto Light" pitchFamily="34" charset="0"/>
                <a:ea typeface="Roboto Light" pitchFamily="34" charset="-122"/>
                <a:cs typeface="Roboto Light" pitchFamily="34" charset="-120"/>
              </a:rPr>
              <a:t>Show me all employees in the [department] department.</a:t>
            </a:r>
          </a:p>
          <a:p>
            <a:pPr marL="285750" indent="-285750" fontAlgn="base">
              <a:lnSpc>
                <a:spcPts val="3000"/>
              </a:lnSpc>
              <a:buFont typeface="Arial" panose="020B0604020202020204" pitchFamily="34" charset="0"/>
              <a:buChar char="•"/>
            </a:pPr>
            <a:r>
              <a:rPr lang="en-US" sz="1600" dirty="0">
                <a:solidFill>
                  <a:srgbClr val="3B3535"/>
                </a:solidFill>
                <a:latin typeface="Roboto Light" pitchFamily="34" charset="0"/>
                <a:ea typeface="Roboto Light" pitchFamily="34" charset="-122"/>
                <a:cs typeface="Roboto Light" pitchFamily="34" charset="-120"/>
              </a:rPr>
              <a:t>Who is the manager of the [department] department?</a:t>
            </a:r>
          </a:p>
          <a:p>
            <a:pPr marL="285750" indent="-285750" fontAlgn="base">
              <a:lnSpc>
                <a:spcPts val="3000"/>
              </a:lnSpc>
              <a:buFont typeface="Arial" panose="020B0604020202020204" pitchFamily="34" charset="0"/>
              <a:buChar char="•"/>
            </a:pPr>
            <a:r>
              <a:rPr lang="en-US" sz="1600" dirty="0">
                <a:solidFill>
                  <a:srgbClr val="3B3535"/>
                </a:solidFill>
                <a:latin typeface="Roboto Light" pitchFamily="34" charset="0"/>
                <a:ea typeface="Roboto Light" pitchFamily="34" charset="-122"/>
                <a:cs typeface="Roboto Light" pitchFamily="34" charset="-120"/>
              </a:rPr>
              <a:t>List all employees hired after [date].</a:t>
            </a:r>
          </a:p>
          <a:p>
            <a:pPr marL="285750" indent="-285750" fontAlgn="base">
              <a:lnSpc>
                <a:spcPts val="3000"/>
              </a:lnSpc>
              <a:buFont typeface="Arial" panose="020B0604020202020204" pitchFamily="34" charset="0"/>
              <a:buChar char="•"/>
            </a:pPr>
            <a:r>
              <a:rPr lang="en-US" sz="1600" dirty="0">
                <a:solidFill>
                  <a:srgbClr val="3B3535"/>
                </a:solidFill>
                <a:latin typeface="Roboto Light" pitchFamily="34" charset="0"/>
                <a:ea typeface="Roboto Light" pitchFamily="34" charset="-122"/>
                <a:cs typeface="Roboto Light" pitchFamily="34" charset="-120"/>
              </a:rPr>
              <a:t>What is the total salary expense for the [department] department?</a:t>
            </a:r>
          </a:p>
          <a:p>
            <a:pPr marL="0" indent="0" algn="l">
              <a:lnSpc>
                <a:spcPts val="3000"/>
              </a:lnSpc>
              <a:buNone/>
            </a:pP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218968"/>
            <a:ext cx="6786205" cy="704017"/>
          </a:xfrm>
          <a:prstGeom prst="rect">
            <a:avLst/>
          </a:prstGeom>
          <a:noFill/>
          <a:ln/>
        </p:spPr>
        <p:txBody>
          <a:bodyPr wrap="non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Challenges and Limitations</a:t>
            </a:r>
            <a:endParaRPr lang="en-US" sz="4400" dirty="0"/>
          </a:p>
        </p:txBody>
      </p:sp>
      <p:sp>
        <p:nvSpPr>
          <p:cNvPr id="4" name="Shape 1"/>
          <p:cNvSpPr/>
          <p:nvPr/>
        </p:nvSpPr>
        <p:spPr>
          <a:xfrm>
            <a:off x="837724" y="3281958"/>
            <a:ext cx="3614618" cy="1627703"/>
          </a:xfrm>
          <a:prstGeom prst="roundRect">
            <a:avLst>
              <a:gd name="adj" fmla="val 2206"/>
            </a:avLst>
          </a:prstGeom>
          <a:solidFill>
            <a:srgbClr val="F3E8E8"/>
          </a:solidFill>
          <a:ln/>
        </p:spPr>
      </p:sp>
      <p:sp>
        <p:nvSpPr>
          <p:cNvPr id="5" name="Text 2"/>
          <p:cNvSpPr/>
          <p:nvPr/>
        </p:nvSpPr>
        <p:spPr>
          <a:xfrm>
            <a:off x="1077039" y="3521273"/>
            <a:ext cx="3135987"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Handling complex and ambiguous queries</a:t>
            </a:r>
            <a:endParaRPr lang="en-US" sz="1850" dirty="0"/>
          </a:p>
        </p:txBody>
      </p:sp>
      <p:sp>
        <p:nvSpPr>
          <p:cNvPr id="6" name="Shape 3"/>
          <p:cNvSpPr/>
          <p:nvPr/>
        </p:nvSpPr>
        <p:spPr>
          <a:xfrm>
            <a:off x="4691658" y="3281958"/>
            <a:ext cx="3614618" cy="1627703"/>
          </a:xfrm>
          <a:prstGeom prst="roundRect">
            <a:avLst>
              <a:gd name="adj" fmla="val 2206"/>
            </a:avLst>
          </a:prstGeom>
          <a:solidFill>
            <a:srgbClr val="F3E8E8"/>
          </a:solidFill>
          <a:ln/>
        </p:spPr>
      </p:sp>
      <p:sp>
        <p:nvSpPr>
          <p:cNvPr id="7" name="Text 4"/>
          <p:cNvSpPr/>
          <p:nvPr/>
        </p:nvSpPr>
        <p:spPr>
          <a:xfrm>
            <a:off x="4930973" y="3521273"/>
            <a:ext cx="3135987" cy="1149072"/>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Ensuring accurate and efficient database interactions</a:t>
            </a:r>
            <a:endParaRPr lang="en-US" sz="1850" dirty="0"/>
          </a:p>
        </p:txBody>
      </p:sp>
      <p:sp>
        <p:nvSpPr>
          <p:cNvPr id="8" name="Shape 5"/>
          <p:cNvSpPr/>
          <p:nvPr/>
        </p:nvSpPr>
        <p:spPr>
          <a:xfrm>
            <a:off x="837722" y="5111751"/>
            <a:ext cx="7468553" cy="861655"/>
          </a:xfrm>
          <a:prstGeom prst="roundRect">
            <a:avLst>
              <a:gd name="adj" fmla="val 4167"/>
            </a:avLst>
          </a:prstGeom>
          <a:solidFill>
            <a:srgbClr val="F3E8E8"/>
          </a:solidFill>
          <a:ln/>
        </p:spPr>
      </p:sp>
      <p:sp>
        <p:nvSpPr>
          <p:cNvPr id="9" name="Text 6"/>
          <p:cNvSpPr/>
          <p:nvPr/>
        </p:nvSpPr>
        <p:spPr>
          <a:xfrm>
            <a:off x="1077039" y="5388293"/>
            <a:ext cx="6989921" cy="383024"/>
          </a:xfrm>
          <a:prstGeom prst="rect">
            <a:avLst/>
          </a:prstGeom>
          <a:noFill/>
          <a:ln/>
        </p:spPr>
        <p:txBody>
          <a:bodyPr wrap="non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Requires high computational resources for efficient processing</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3391733"/>
            <a:ext cx="5632490" cy="704017"/>
          </a:xfrm>
          <a:prstGeom prst="rect">
            <a:avLst/>
          </a:prstGeom>
          <a:noFill/>
          <a:ln/>
        </p:spPr>
        <p:txBody>
          <a:bodyPr wrap="none" lIns="0" tIns="0" rIns="0" bIns="0" rtlCol="0" anchor="t"/>
          <a:lstStyle/>
          <a:p>
            <a:pPr marL="0" indent="0">
              <a:lnSpc>
                <a:spcPts val="5500"/>
              </a:lnSpc>
              <a:buNone/>
            </a:pPr>
            <a:r>
              <a:rPr lang="en-US" sz="6600" dirty="0">
                <a:solidFill>
                  <a:srgbClr val="1F1E1E"/>
                </a:solidFill>
                <a:latin typeface="Red Hat Text" pitchFamily="34" charset="0"/>
                <a:ea typeface="Red Hat Text" pitchFamily="34" charset="-122"/>
                <a:cs typeface="Red Hat Text" pitchFamily="34" charset="-120"/>
              </a:rPr>
              <a:t>Thank You</a:t>
            </a:r>
            <a:endParaRPr lang="en-US" sz="6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298</Words>
  <Application>Microsoft Office PowerPoint</Application>
  <PresentationFormat>Custom</PresentationFormat>
  <Paragraphs>78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Red Hat Text</vt:lpstr>
      <vt:lpstr>Roboto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sai naman</cp:lastModifiedBy>
  <cp:revision>16</cp:revision>
  <dcterms:created xsi:type="dcterms:W3CDTF">2025-02-10T06:04:30Z</dcterms:created>
  <dcterms:modified xsi:type="dcterms:W3CDTF">2025-02-12T08:00:16Z</dcterms:modified>
</cp:coreProperties>
</file>